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0" r:id="rId1"/>
  </p:sldMasterIdLst>
  <p:sldIdLst>
    <p:sldId id="256" r:id="rId2"/>
    <p:sldId id="258" r:id="rId3"/>
    <p:sldId id="269"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8"/>
  </p:normalViewPr>
  <p:slideViewPr>
    <p:cSldViewPr snapToGrid="0" snapToObjects="1">
      <p:cViewPr varScale="1">
        <p:scale>
          <a:sx n="121" d="100"/>
          <a:sy n="121" d="100"/>
        </p:scale>
        <p:origin x="136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99077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6879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6339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8445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7417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17507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2518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920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840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98854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902582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3836096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63998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754850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89047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331205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5314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5/11/26</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54109780"/>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8178E3D-A919-A74D-BB3D-B62407FB378B}"/>
              </a:ext>
            </a:extLst>
          </p:cNvPr>
          <p:cNvPicPr>
            <a:picLocks noChangeAspect="1"/>
          </p:cNvPicPr>
          <p:nvPr/>
        </p:nvPicPr>
        <p:blipFill>
          <a:blip r:embed="rId2">
            <a:alphaModFix amt="35000"/>
          </a:blip>
          <a:stretch>
            <a:fillRect/>
          </a:stretch>
        </p:blipFill>
        <p:spPr>
          <a:xfrm>
            <a:off x="0" y="0"/>
            <a:ext cx="9144000" cy="6858000"/>
          </a:xfrm>
          <a:prstGeom prst="rect">
            <a:avLst/>
          </a:prstGeom>
        </p:spPr>
      </p:pic>
      <p:sp>
        <p:nvSpPr>
          <p:cNvPr id="2" name="Title 1"/>
          <p:cNvSpPr>
            <a:spLocks noGrp="1"/>
          </p:cNvSpPr>
          <p:nvPr>
            <p:ph type="ctrTitle"/>
          </p:nvPr>
        </p:nvSpPr>
        <p:spPr/>
        <p:txBody>
          <a:bodyPr/>
          <a:lstStyle/>
          <a:p>
            <a:r>
              <a:rPr b="1" dirty="0"/>
              <a:t>Project</a:t>
            </a:r>
            <a:r>
              <a:rPr dirty="0"/>
              <a:t> </a:t>
            </a:r>
            <a:r>
              <a:rPr b="1" dirty="0"/>
              <a:t>Title</a:t>
            </a:r>
          </a:p>
        </p:txBody>
      </p:sp>
      <p:sp>
        <p:nvSpPr>
          <p:cNvPr id="3" name="Subtitle 2"/>
          <p:cNvSpPr>
            <a:spLocks noGrp="1"/>
          </p:cNvSpPr>
          <p:nvPr>
            <p:ph type="subTitle" idx="1"/>
          </p:nvPr>
        </p:nvSpPr>
        <p:spPr/>
        <p:txBody>
          <a:bodyPr>
            <a:normAutofit fontScale="92500" lnSpcReduction="10000"/>
          </a:bodyPr>
          <a:lstStyle/>
          <a:p>
            <a:r>
              <a:rPr lang="en-US" b="1" dirty="0">
                <a:solidFill>
                  <a:schemeClr val="tx1"/>
                </a:solidFill>
              </a:rPr>
              <a:t>The Game</a:t>
            </a:r>
            <a:r>
              <a:rPr b="1" dirty="0">
                <a:solidFill>
                  <a:schemeClr val="tx1"/>
                </a:solidFill>
              </a:rPr>
              <a:t> Boat Rentals &amp; Accommodation</a:t>
            </a:r>
          </a:p>
          <a:p>
            <a:r>
              <a:rPr b="1" dirty="0">
                <a:solidFill>
                  <a:schemeClr val="tx1"/>
                </a:solidFill>
              </a:rPr>
              <a:t>Full-Stack Booking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Background</a:t>
            </a:r>
          </a:p>
        </p:txBody>
      </p:sp>
      <p:sp>
        <p:nvSpPr>
          <p:cNvPr id="3" name="Content Placeholder 2"/>
          <p:cNvSpPr>
            <a:spLocks noGrp="1"/>
          </p:cNvSpPr>
          <p:nvPr>
            <p:ph idx="1"/>
          </p:nvPr>
        </p:nvSpPr>
        <p:spPr/>
        <p:txBody>
          <a:bodyPr>
            <a:normAutofit fontScale="77500" lnSpcReduction="20000"/>
          </a:bodyPr>
          <a:lstStyle/>
          <a:p>
            <a:r>
              <a:rPr lang="en-US" dirty="0"/>
              <a:t>This project addresses a practical problem faced by boat rental and tour accommodation businesses in Zambia: bookings are often handled manually through calls, messages, or informal spreadsheets, which increases errors, overbooking, and delays in confirmations. The research and development effort resulted in a full-stack system that combines a Zambia-focused front-end experience with a secure Spring Boot REST API backend. The backend uses PostgreSQL for persistence, JWT-based authentication, and role-based access control to separate customer and admin capabilities. Customers can register and book boats/accommodation/services through a validated booking workflow, while administrators can review all bookings, update booking statuses, and view basic booking statistics. The implementation demonstrates how structured data models, validation rules, and secure access improve consistency and operational readiness. Key results show that the system supports end-to-end booking creation and status management with measurable workflow improvements over manual processes. The conclusion is that a secure digital booking platform tailored to Zambia’s destinations and service categories can increase efficiency, improve customer transparency, and enable more reliable operations.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B24AC-1867-6442-985A-3B2D7CA2D6FB}"/>
              </a:ext>
            </a:extLst>
          </p:cNvPr>
          <p:cNvSpPr>
            <a:spLocks noGrp="1"/>
          </p:cNvSpPr>
          <p:nvPr>
            <p:ph type="title"/>
          </p:nvPr>
        </p:nvSpPr>
        <p:spPr/>
        <p:txBody>
          <a:bodyPr/>
          <a:lstStyle/>
          <a:p>
            <a:r>
              <a:rPr lang="en-ZW" dirty="0"/>
              <a:t>Weaknesses </a:t>
            </a:r>
            <a:endParaRPr lang="en-US" dirty="0"/>
          </a:p>
        </p:txBody>
      </p:sp>
      <p:sp>
        <p:nvSpPr>
          <p:cNvPr id="3" name="Content Placeholder 2">
            <a:extLst>
              <a:ext uri="{FF2B5EF4-FFF2-40B4-BE49-F238E27FC236}">
                <a16:creationId xmlns:a16="http://schemas.microsoft.com/office/drawing/2014/main" id="{B3F94CD3-AF47-C94A-87EE-3CE82D07FE4B}"/>
              </a:ext>
            </a:extLst>
          </p:cNvPr>
          <p:cNvSpPr>
            <a:spLocks noGrp="1"/>
          </p:cNvSpPr>
          <p:nvPr>
            <p:ph idx="1"/>
          </p:nvPr>
        </p:nvSpPr>
        <p:spPr/>
        <p:txBody>
          <a:bodyPr/>
          <a:lstStyle/>
          <a:p>
            <a:pPr lvl="0"/>
            <a:r>
              <a:rPr lang="en-ZW" dirty="0"/>
              <a:t>They spend more time on writing names of individuals who want to rent boats.</a:t>
            </a:r>
            <a:endParaRPr lang="en-US" dirty="0"/>
          </a:p>
          <a:p>
            <a:pPr lvl="0"/>
            <a:r>
              <a:rPr lang="en-ZW" dirty="0"/>
              <a:t>Documents are stored on paper which can destroyed easily/get lost easily by misplacing.</a:t>
            </a:r>
            <a:endParaRPr lang="en-US" dirty="0"/>
          </a:p>
          <a:p>
            <a:pPr lvl="0"/>
            <a:r>
              <a:rPr lang="en-ZW" dirty="0"/>
              <a:t>During writing their rentals, there is high chances of mistakes due to human error.</a:t>
            </a:r>
            <a:endParaRPr lang="en-US" dirty="0"/>
          </a:p>
          <a:p>
            <a:pPr lvl="0"/>
            <a:r>
              <a:rPr lang="en-ZW" dirty="0"/>
              <a:t>Their system of using paper cannot validate records.</a:t>
            </a:r>
            <a:endParaRPr lang="en-US" dirty="0"/>
          </a:p>
          <a:p>
            <a:pPr lvl="0"/>
            <a:r>
              <a:rPr lang="en-ZW" dirty="0"/>
              <a:t>Long queues are made during renting.</a:t>
            </a:r>
            <a:endParaRPr lang="en-US" dirty="0"/>
          </a:p>
          <a:p>
            <a:pPr lvl="0"/>
            <a:r>
              <a:rPr lang="en-ZW" dirty="0"/>
              <a:t>The system is cost inefficient because the processing employee had to use another sheet to eliminate error made on the other sheet.</a:t>
            </a:r>
            <a:endParaRPr lang="en-US" dirty="0"/>
          </a:p>
          <a:p>
            <a:endParaRPr lang="en-US" dirty="0"/>
          </a:p>
        </p:txBody>
      </p:sp>
    </p:spTree>
    <p:extLst>
      <p:ext uri="{BB962C8B-B14F-4D97-AF65-F5344CB8AC3E}">
        <p14:creationId xmlns:p14="http://schemas.microsoft.com/office/powerpoint/2010/main" val="23561244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r>
              <a:rPr lang="en-US" dirty="0"/>
              <a:t>The problem addressed by this project is: “How can a secure and structured full-stack booking system be designed and implemented for Zambia boat rental and related services to reduce operational errors and improve customer booking experience?”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Objectives</a:t>
            </a:r>
          </a:p>
        </p:txBody>
      </p:sp>
      <p:sp>
        <p:nvSpPr>
          <p:cNvPr id="3" name="Content Placeholder 2"/>
          <p:cNvSpPr>
            <a:spLocks noGrp="1"/>
          </p:cNvSpPr>
          <p:nvPr>
            <p:ph idx="1"/>
          </p:nvPr>
        </p:nvSpPr>
        <p:spPr/>
        <p:txBody>
          <a:bodyPr/>
          <a:lstStyle/>
          <a:p>
            <a:pPr>
              <a:defRPr sz="2200"/>
            </a:pPr>
            <a:r>
              <a:rPr dirty="0"/>
              <a:t>Implement full-stack booking system</a:t>
            </a:r>
          </a:p>
          <a:p>
            <a:pPr>
              <a:defRPr sz="2200"/>
            </a:pPr>
            <a:r>
              <a:rPr dirty="0"/>
              <a:t>Add JWT authentication and RBAC</a:t>
            </a:r>
          </a:p>
          <a:p>
            <a:pPr>
              <a:defRPr sz="2200"/>
            </a:pPr>
            <a:r>
              <a:rPr dirty="0"/>
              <a:t>Provide validated booking workflow</a:t>
            </a:r>
          </a:p>
          <a:p>
            <a:pPr>
              <a:defRPr sz="2200"/>
            </a:pPr>
            <a:r>
              <a:rPr dirty="0"/>
              <a:t>Develop customer and admin dashboards</a:t>
            </a:r>
            <a:endParaRPr lang="en-US" dirty="0"/>
          </a:p>
          <a:p>
            <a:pPr>
              <a:defRPr sz="2200"/>
            </a:pPr>
            <a:r>
              <a:rPr lang="en-US" dirty="0"/>
              <a:t>Allow Database keeping</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p:txBody>
          <a:bodyPr/>
          <a:lstStyle/>
          <a:p>
            <a:pPr>
              <a:defRPr sz="2200"/>
            </a:pPr>
            <a:r>
              <a:t>Frontend: HTML/CSS/JavaScript</a:t>
            </a:r>
          </a:p>
          <a:p>
            <a:pPr>
              <a:defRPr sz="2200"/>
            </a:pPr>
            <a:r>
              <a:t>Backend: Spring Boot REST API</a:t>
            </a:r>
          </a:p>
          <a:p>
            <a:pPr>
              <a:defRPr sz="2200"/>
            </a:pPr>
            <a:r>
              <a:t>Database: PostgreSQL</a:t>
            </a:r>
          </a:p>
          <a:p>
            <a:pPr>
              <a:defRPr sz="2200"/>
            </a:pPr>
            <a:r>
              <a:t>Security: JWT + Spring Security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pPr>
              <a:defRPr sz="2200"/>
            </a:pPr>
            <a:r>
              <a:t>Design-and-implementation research approach</a:t>
            </a:r>
          </a:p>
          <a:p>
            <a:pPr>
              <a:defRPr sz="2200"/>
            </a:pPr>
            <a:r>
              <a:t>Prototype-based system development</a:t>
            </a:r>
          </a:p>
          <a:p>
            <a:pPr>
              <a:defRPr sz="2200"/>
            </a:pPr>
            <a:r>
              <a:t>Functional and security testing performed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Booking Workflow</a:t>
            </a:r>
          </a:p>
        </p:txBody>
      </p:sp>
      <p:sp>
        <p:nvSpPr>
          <p:cNvPr id="3" name="Content Placeholder 2"/>
          <p:cNvSpPr>
            <a:spLocks noGrp="1"/>
          </p:cNvSpPr>
          <p:nvPr>
            <p:ph idx="1"/>
          </p:nvPr>
        </p:nvSpPr>
        <p:spPr/>
        <p:txBody>
          <a:bodyPr/>
          <a:lstStyle/>
          <a:p>
            <a:pPr>
              <a:defRPr sz="2200"/>
            </a:pPr>
            <a:r>
              <a:t>Customer registration and login</a:t>
            </a:r>
          </a:p>
          <a:p>
            <a:pPr>
              <a:defRPr sz="2200"/>
            </a:pPr>
            <a:r>
              <a:t>Booking creation with validation</a:t>
            </a:r>
          </a:p>
          <a:p>
            <a:pPr>
              <a:defRPr sz="2200"/>
            </a:pPr>
            <a:r>
              <a:t>Admin booking management</a:t>
            </a:r>
          </a:p>
          <a:p>
            <a:pPr>
              <a:defRPr sz="2200"/>
            </a:pPr>
            <a:r>
              <a:t>Status updates and booking history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Security Features</a:t>
            </a:r>
          </a:p>
        </p:txBody>
      </p:sp>
      <p:sp>
        <p:nvSpPr>
          <p:cNvPr id="3" name="Content Placeholder 2"/>
          <p:cNvSpPr>
            <a:spLocks noGrp="1"/>
          </p:cNvSpPr>
          <p:nvPr>
            <p:ph idx="1"/>
          </p:nvPr>
        </p:nvSpPr>
        <p:spPr/>
        <p:txBody>
          <a:bodyPr/>
          <a:lstStyle/>
          <a:p>
            <a:pPr>
              <a:defRPr sz="2200"/>
            </a:pPr>
            <a:r>
              <a:t>JWT authentication</a:t>
            </a:r>
          </a:p>
          <a:p>
            <a:pPr>
              <a:defRPr sz="2200"/>
            </a:pPr>
            <a:r>
              <a:t>BCrypt password hashing</a:t>
            </a:r>
          </a:p>
          <a:p>
            <a:pPr>
              <a:defRPr sz="2200"/>
            </a:pPr>
            <a:r>
              <a:t>Role-Based Access Control (RBAC)</a:t>
            </a:r>
          </a:p>
          <a:p>
            <a:pPr>
              <a:defRPr sz="2200"/>
            </a:pPr>
            <a:r>
              <a:t>Protected admin endpoints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sp>
        <p:nvSpPr>
          <p:cNvPr id="3" name="Content Placeholder 2"/>
          <p:cNvSpPr>
            <a:spLocks noGrp="1"/>
          </p:cNvSpPr>
          <p:nvPr>
            <p:ph idx="1"/>
          </p:nvPr>
        </p:nvSpPr>
        <p:spPr/>
        <p:txBody>
          <a:bodyPr/>
          <a:lstStyle/>
          <a:p>
            <a:pPr>
              <a:defRPr sz="2200"/>
            </a:pPr>
            <a:r>
              <a:t>Working responsive booking platform</a:t>
            </a:r>
          </a:p>
          <a:p>
            <a:pPr>
              <a:defRPr sz="2200"/>
            </a:pPr>
            <a:r>
              <a:t>Validated booking management system</a:t>
            </a:r>
          </a:p>
          <a:p>
            <a:pPr>
              <a:defRPr sz="2200"/>
            </a:pPr>
            <a:r>
              <a:t>Improved operational visibility</a:t>
            </a:r>
          </a:p>
          <a:p>
            <a:pPr>
              <a:defRPr sz="2200"/>
            </a:pPr>
            <a:r>
              <a:t>Reduced unauthorized access risks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Enhancements</a:t>
            </a:r>
          </a:p>
        </p:txBody>
      </p:sp>
      <p:sp>
        <p:nvSpPr>
          <p:cNvPr id="3" name="Content Placeholder 2"/>
          <p:cNvSpPr>
            <a:spLocks noGrp="1"/>
          </p:cNvSpPr>
          <p:nvPr>
            <p:ph idx="1"/>
          </p:nvPr>
        </p:nvSpPr>
        <p:spPr/>
        <p:txBody>
          <a:bodyPr/>
          <a:lstStyle/>
          <a:p>
            <a:pPr>
              <a:defRPr sz="2200"/>
            </a:pPr>
            <a:r>
              <a:t>Mobile Money payment integration</a:t>
            </a:r>
          </a:p>
          <a:p>
            <a:pPr>
              <a:defRPr sz="2200"/>
            </a:pPr>
            <a:r>
              <a:t>Boat availability conflict checking</a:t>
            </a:r>
          </a:p>
          <a:p>
            <a:pPr>
              <a:defRPr sz="2200"/>
            </a:pPr>
            <a:r>
              <a:t>Customer notifications via SMS/Email</a:t>
            </a:r>
          </a:p>
          <a:p>
            <a:pPr>
              <a:defRPr sz="2200"/>
            </a:pPr>
            <a:r>
              <a:t>Advanced analytics and reporting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a:defRPr sz="2200"/>
            </a:pPr>
            <a:r>
              <a:t>System improves booking reliability and transparency</a:t>
            </a:r>
          </a:p>
          <a:p>
            <a:pPr>
              <a:defRPr sz="2200"/>
            </a:pPr>
            <a:r>
              <a:t>Demonstrates practical application of secure web technologies</a:t>
            </a:r>
          </a:p>
          <a:p>
            <a:pPr>
              <a:defRPr sz="2200"/>
            </a:pPr>
            <a:r>
              <a:t>Supports Zambia tourism business operations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pPr>
              <a:defRPr sz="2200"/>
            </a:pPr>
            <a:r>
              <a:t>Questions &amp; Discussion</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{098FF205-874F-214C-95EC-F7511B4AFDC0}tf10001062</Template>
  <TotalTime>450</TotalTime>
  <Words>485</Words>
  <Application>Microsoft Macintosh PowerPoint</Application>
  <PresentationFormat>On-screen Show (4:3)</PresentationFormat>
  <Paragraphs>55</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Wingdings 3</vt:lpstr>
      <vt:lpstr>Ion</vt:lpstr>
      <vt:lpstr>Project Title</vt:lpstr>
      <vt:lpstr>Background</vt:lpstr>
      <vt:lpstr>Weaknesses </vt:lpstr>
      <vt:lpstr>Problem Statement</vt:lpstr>
      <vt:lpstr>Project Objectives</vt:lpstr>
      <vt:lpstr>System Architecture</vt:lpstr>
      <vt:lpstr>Methodology</vt:lpstr>
      <vt:lpstr>Booking Workflow</vt:lpstr>
      <vt:lpstr>Security Features</vt:lpstr>
      <vt:lpstr>Results</vt:lpstr>
      <vt:lpstr>Future Enhancements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subject/>
  <dc:creator/>
  <cp:keywords/>
  <dc:description>generated using python-pptx</dc:description>
  <cp:lastModifiedBy>Microsoft Office User</cp:lastModifiedBy>
  <cp:revision>6</cp:revision>
  <dcterms:created xsi:type="dcterms:W3CDTF">2013-01-27T09:14:16Z</dcterms:created>
  <dcterms:modified xsi:type="dcterms:W3CDTF">2026-05-11T14:16:32Z</dcterms:modified>
  <cp:category/>
</cp:coreProperties>
</file>